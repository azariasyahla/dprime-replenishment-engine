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validated workflow. Currency Trend enters the model only after testing confirms that it improves forecast performance and reduces MAE or 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23D11-BBD7-7230-E1BF-266E64B2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DD785-F254-5CEB-EAB0-61CD66430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6CD26-CE15-4F2F-38A3-CDCF0FC7E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 validated workflow. Currency Trend enters the model only after testing confirms that it improves forecast performance and reduces MAE or RMSE.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F26BD-C962-53C6-EB86-6BD638B295B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205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35BE384B-B70A-4097-BD00-7977800B4EA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700" b="1">
                <a:solidFill>
                  <a:srgbClr val="1820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dirty="0">
                <a:solidFill>
                  <a:srgbClr val="18205D"/>
                </a:solidFill>
                <a:latin typeface="Bitstream Charter"/>
                <a:ea typeface="Bitstream Charter"/>
                <a:cs typeface="Bitstream Charter"/>
              </a:rPr>
              <a:t>D-PRIME Forecasting and Replenishment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B42F55-7C3F-431B-8ED0-F5CC2EEFA36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rPr>
              <a:t>From operational data to explainable order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86765D-A1B9-414F-8D3A-6DA96DA3FAD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619250" cy="47625"/>
          </a:xfrm>
          <a:prstGeom prst="rect">
            <a:avLst/>
          </a:prstGeom>
          <a:solidFill>
            <a:srgbClr val="EF2029"/>
          </a:solidFill>
          <a:ln w="0">
            <a:solidFill>
              <a:srgbClr val="EF2029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D5E47-2915-4915-BF00-646FF693E20C}"/>
              </a:ext>
            </a:extLst>
          </p:cNvPr>
          <p:cNvSpPr>
            <a:spLocks noGrp="1"/>
          </p:cNvSpPr>
          <p:nvPr/>
        </p:nvSpPr>
        <p:spPr>
          <a:xfrm>
            <a:off x="10572750" y="457200"/>
            <a:ext cx="1066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500" b="1">
                <a:solidFill>
                  <a:srgbClr val="EF202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EF2029"/>
                </a:solidFill>
                <a:latin typeface="Bitstream Charter"/>
                <a:ea typeface="Bitstream Charter"/>
                <a:cs typeface="Bitstream Charter"/>
              </a:rPr>
              <a:t>D-PRIME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6F7A53-4BD0-4B4A-9E42-00496488D7C3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2190750" cy="5048250"/>
          </a:xfrm>
          <a:prstGeom prst="roundRect">
            <a:avLst>
              <a:gd name="adj" fmla="val 3478"/>
            </a:avLst>
          </a:prstGeom>
          <a:solidFill>
            <a:srgbClr val="EEF1F8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FB5713-DDFE-4EB1-ACF1-B5D61EFC5DE1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2000250" cy="419100"/>
          </a:xfrm>
          <a:prstGeom prst="roundRect">
            <a:avLst>
              <a:gd name="adj" fmla="val 18182"/>
            </a:avLst>
          </a:prstGeom>
          <a:solidFill>
            <a:srgbClr val="435991"/>
          </a:solidFill>
          <a:ln w="0">
            <a:solidFill>
              <a:srgbClr val="43599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33FAC1-B186-4430-A4A7-22318F396F02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01  DATA SOURCES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19B603-11DA-4073-B6FB-0DD5BBA8781D}"/>
              </a:ext>
            </a:extLst>
          </p:cNvPr>
          <p:cNvSpPr>
            <a:spLocks noGrp="1"/>
          </p:cNvSpPr>
          <p:nvPr/>
        </p:nvSpPr>
        <p:spPr>
          <a:xfrm>
            <a:off x="2762250" y="1428750"/>
            <a:ext cx="2095500" cy="5048250"/>
          </a:xfrm>
          <a:prstGeom prst="roundRect">
            <a:avLst>
              <a:gd name="adj" fmla="val 3636"/>
            </a:avLst>
          </a:prstGeom>
          <a:solidFill>
            <a:srgbClr val="F0F2F6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BDCCA6-7B25-4DB2-B436-DF542692CBDA}"/>
              </a:ext>
            </a:extLst>
          </p:cNvPr>
          <p:cNvSpPr>
            <a:spLocks noGrp="1"/>
          </p:cNvSpPr>
          <p:nvPr/>
        </p:nvSpPr>
        <p:spPr>
          <a:xfrm>
            <a:off x="2857500" y="1543050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596579"/>
          </a:solidFill>
          <a:ln w="0">
            <a:solidFill>
              <a:srgbClr val="596579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22BD02-E050-4AF4-84FA-9331FF7C240D}"/>
              </a:ext>
            </a:extLst>
          </p:cNvPr>
          <p:cNvSpPr>
            <a:spLocks noGrp="1"/>
          </p:cNvSpPr>
          <p:nvPr/>
        </p:nvSpPr>
        <p:spPr>
          <a:xfrm>
            <a:off x="2933700" y="15811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9897"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02  DATA PREPARATION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4E3AB8-9CB9-40F2-8CD1-7E833EF1C600}"/>
              </a:ext>
            </a:extLst>
          </p:cNvPr>
          <p:cNvSpPr>
            <a:spLocks noGrp="1"/>
          </p:cNvSpPr>
          <p:nvPr/>
        </p:nvSpPr>
        <p:spPr>
          <a:xfrm>
            <a:off x="5048250" y="1428750"/>
            <a:ext cx="3143250" cy="5048250"/>
          </a:xfrm>
          <a:prstGeom prst="roundRect">
            <a:avLst>
              <a:gd name="adj" fmla="val 2424"/>
            </a:avLst>
          </a:prstGeom>
          <a:solidFill>
            <a:srgbClr val="EBEEF7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6CAEE7-02A6-4DE5-87E2-0F52CD0797E3}"/>
              </a:ext>
            </a:extLst>
          </p:cNvPr>
          <p:cNvSpPr>
            <a:spLocks noGrp="1"/>
          </p:cNvSpPr>
          <p:nvPr/>
        </p:nvSpPr>
        <p:spPr>
          <a:xfrm>
            <a:off x="5143500" y="1543050"/>
            <a:ext cx="2952750" cy="419100"/>
          </a:xfrm>
          <a:prstGeom prst="roundRect">
            <a:avLst>
              <a:gd name="adj" fmla="val 18182"/>
            </a:avLst>
          </a:prstGeom>
          <a:solidFill>
            <a:srgbClr val="263775"/>
          </a:solidFill>
          <a:ln w="0">
            <a:solidFill>
              <a:srgbClr val="263775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6DDB7C-F976-4657-BF3B-247898E74F71}"/>
              </a:ext>
            </a:extLst>
          </p:cNvPr>
          <p:cNvSpPr>
            <a:spLocks noGrp="1"/>
          </p:cNvSpPr>
          <p:nvPr/>
        </p:nvSpPr>
        <p:spPr>
          <a:xfrm>
            <a:off x="5219700" y="15811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03  DEMAND FORECASTING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7E1107C-0475-48EC-8094-62DF8B9EFB11}"/>
              </a:ext>
            </a:extLst>
          </p:cNvPr>
          <p:cNvSpPr>
            <a:spLocks noGrp="1"/>
          </p:cNvSpPr>
          <p:nvPr/>
        </p:nvSpPr>
        <p:spPr>
          <a:xfrm>
            <a:off x="8382000" y="1428750"/>
            <a:ext cx="3429000" cy="5048250"/>
          </a:xfrm>
          <a:prstGeom prst="roundRect">
            <a:avLst>
              <a:gd name="adj" fmla="val 2222"/>
            </a:avLst>
          </a:prstGeom>
          <a:solidFill>
            <a:srgbClr val="FAECEE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A56B31-11BC-429C-B7CD-88315BE53A32}"/>
              </a:ext>
            </a:extLst>
          </p:cNvPr>
          <p:cNvSpPr>
            <a:spLocks noGrp="1"/>
          </p:cNvSpPr>
          <p:nvPr/>
        </p:nvSpPr>
        <p:spPr>
          <a:xfrm>
            <a:off x="8477250" y="1543050"/>
            <a:ext cx="3238500" cy="419100"/>
          </a:xfrm>
          <a:prstGeom prst="roundRect">
            <a:avLst>
              <a:gd name="adj" fmla="val 18182"/>
            </a:avLst>
          </a:prstGeom>
          <a:solidFill>
            <a:srgbClr val="B82732"/>
          </a:solidFill>
          <a:ln w="0">
            <a:solidFill>
              <a:srgbClr val="B8273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53CC6-D203-4250-B14E-77122A019923}"/>
              </a:ext>
            </a:extLst>
          </p:cNvPr>
          <p:cNvSpPr>
            <a:spLocks noGrp="1"/>
          </p:cNvSpPr>
          <p:nvPr/>
        </p:nvSpPr>
        <p:spPr>
          <a:xfrm>
            <a:off x="8553450" y="15811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04  REPLENISHMENT DECISION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34FC69-5266-4C2B-8835-5794937CD645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1847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906">
            <a:solidFill>
              <a:srgbClr val="9EABD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Internal Data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Usage, Stock, Stock Policy, Watchlist, MIGO, Backorder, WRS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4832EC-F1C8-4B40-8AD4-876728F2C946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8478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906">
            <a:solidFill>
              <a:srgbClr val="9EABD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External Data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Seasonality, Calendar Events, PMI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E88255-A4D2-4515-847E-53BD403D8E9E}"/>
              </a:ext>
            </a:extLst>
          </p:cNvPr>
          <p:cNvSpPr>
            <a:spLocks noGrp="1"/>
          </p:cNvSpPr>
          <p:nvPr/>
        </p:nvSpPr>
        <p:spPr>
          <a:xfrm>
            <a:off x="552450" y="4667250"/>
            <a:ext cx="1847850" cy="876300"/>
          </a:xfrm>
          <a:prstGeom prst="roundRect">
            <a:avLst>
              <a:gd name="adj" fmla="val 8696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Currency Trend</a:t>
            </a:r>
          </a:p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Validated external feature used by the forecast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2B05BC-B6FA-48BC-9860-8CFF8637ED25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rPr>
              <a:t>All external signals have passed feature validation.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19B71-79EF-497C-99C7-7F2314A6254F}"/>
              </a:ext>
            </a:extLst>
          </p:cNvPr>
          <p:cNvSpPr>
            <a:spLocks noGrp="1"/>
          </p:cNvSpPr>
          <p:nvPr/>
        </p:nvSpPr>
        <p:spPr>
          <a:xfrm>
            <a:off x="2933700" y="2190750"/>
            <a:ext cx="17526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File and Column Validation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26C4000-201B-4EE5-BB40-A181B6DB0487}"/>
              </a:ext>
            </a:extLst>
          </p:cNvPr>
          <p:cNvSpPr>
            <a:spLocks noGrp="1"/>
          </p:cNvSpPr>
          <p:nvPr/>
        </p:nvSpPr>
        <p:spPr>
          <a:xfrm>
            <a:off x="2933700" y="31432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Data Cleaning and Standardization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C58396-535D-4E3F-931C-09101EE8FB36}"/>
              </a:ext>
            </a:extLst>
          </p:cNvPr>
          <p:cNvSpPr>
            <a:spLocks noGrp="1"/>
          </p:cNvSpPr>
          <p:nvPr/>
        </p:nvSpPr>
        <p:spPr>
          <a:xfrm>
            <a:off x="2933700" y="4171950"/>
            <a:ext cx="17526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Part Number Integration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D10401-D471-46EB-BB43-4C0D98D9D304}"/>
              </a:ext>
            </a:extLst>
          </p:cNvPr>
          <p:cNvSpPr>
            <a:spLocks noGrp="1"/>
          </p:cNvSpPr>
          <p:nvPr/>
        </p:nvSpPr>
        <p:spPr>
          <a:xfrm>
            <a:off x="2933700" y="521970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Validated Analysis Dataset</a:t>
            </a:r>
          </a:p>
        </p:txBody>
      </p:sp>
      <p:cxnSp>
        <p:nvCxnSpPr>
          <p:cNvPr id="91" name="Straight Arrow Connector 90"/>
          <p:cNvCxnSpPr>
            <a:stCxn id="21" idx="2"/>
            <a:endCxn id="22" idx="0"/>
          </p:cNvCxnSpPr>
          <p:nvPr/>
        </p:nvCxnSpPr>
        <p:spPr>
          <a:xfrm>
            <a:off x="3810000" y="2781300"/>
            <a:ext cx="0" cy="36195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2" name="Straight Arrow Connector 91"/>
          <p:cNvCxnSpPr>
            <a:stCxn id="22" idx="2"/>
            <a:endCxn id="23" idx="0"/>
          </p:cNvCxnSpPr>
          <p:nvPr/>
        </p:nvCxnSpPr>
        <p:spPr>
          <a:xfrm>
            <a:off x="3810000" y="3790950"/>
            <a:ext cx="0" cy="38100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3" name="Straight Arrow Connector 92"/>
          <p:cNvCxnSpPr>
            <a:stCxn id="23" idx="2"/>
            <a:endCxn id="24" idx="0"/>
          </p:cNvCxnSpPr>
          <p:nvPr/>
        </p:nvCxnSpPr>
        <p:spPr>
          <a:xfrm>
            <a:off x="3810000" y="4762500"/>
            <a:ext cx="0" cy="45720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4" name="Straight Arrow Connector 93"/>
          <p:cNvCxnSpPr>
            <a:cxnSpLocks/>
            <a:endCxn id="21" idx="1"/>
          </p:cNvCxnSpPr>
          <p:nvPr/>
        </p:nvCxnSpPr>
        <p:spPr>
          <a:xfrm>
            <a:off x="2400300" y="2486025"/>
            <a:ext cx="533400" cy="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5" name="Connector: Elbow 94"/>
          <p:cNvCxnSpPr>
            <a:stCxn id="18" idx="3"/>
            <a:endCxn id="21" idx="1"/>
          </p:cNvCxnSpPr>
          <p:nvPr/>
        </p:nvCxnSpPr>
        <p:spPr>
          <a:xfrm flipV="1">
            <a:off x="2400300" y="2486025"/>
            <a:ext cx="533400" cy="1457325"/>
          </a:xfrm>
          <a:prstGeom prst="bentConnector3">
            <a:avLst>
              <a:gd name="adj1" fmla="val 50000"/>
            </a:avLst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6" name="Connector: Elbow 95"/>
          <p:cNvCxnSpPr>
            <a:cxnSpLocks/>
          </p:cNvCxnSpPr>
          <p:nvPr/>
        </p:nvCxnSpPr>
        <p:spPr>
          <a:xfrm flipV="1">
            <a:off x="2405831" y="2486025"/>
            <a:ext cx="533400" cy="2619375"/>
          </a:xfrm>
          <a:prstGeom prst="bentConnector3">
            <a:avLst>
              <a:gd name="adj1" fmla="val 50000"/>
            </a:avLst>
          </a:prstGeom>
          <a:ln w="15240">
            <a:solidFill>
              <a:srgbClr val="21A365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B296685-6F8D-47B3-82F9-93DB976B16E6}"/>
              </a:ext>
            </a:extLst>
          </p:cNvPr>
          <p:cNvSpPr>
            <a:spLocks noGrp="1"/>
          </p:cNvSpPr>
          <p:nvPr/>
        </p:nvSpPr>
        <p:spPr>
          <a:xfrm>
            <a:off x="5238750" y="211455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8997C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Demand Analysis</a:t>
            </a:r>
          </a:p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(</a:t>
            </a:r>
            <a:r>
              <a:rPr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ADI and CV²</a:t>
            </a:r>
            <a:r>
              <a:rPr lang="en-US"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 Calculation)</a:t>
            </a:r>
            <a:endParaRPr sz="1275" b="1" dirty="0">
              <a:solidFill>
                <a:srgbClr val="171B2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016407-21BB-4C76-A8AA-4AF574CF0930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906">
            <a:solidFill>
              <a:srgbClr val="8997C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Demand Pattern Classification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Smooth, Erratic, Intermittent, Lumpy, No Demand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7BC1EC-9881-45D6-A9A3-1B6E22F7A0E9}"/>
              </a:ext>
            </a:extLst>
          </p:cNvPr>
          <p:cNvSpPr>
            <a:spLocks noGrp="1"/>
          </p:cNvSpPr>
          <p:nvPr/>
        </p:nvSpPr>
        <p:spPr>
          <a:xfrm>
            <a:off x="5238750" y="4000500"/>
            <a:ext cx="800100" cy="476250"/>
          </a:xfrm>
          <a:prstGeom prst="roundRect">
            <a:avLst>
              <a:gd name="adj" fmla="val 16000"/>
            </a:avLst>
          </a:prstGeom>
          <a:solidFill>
            <a:srgbClr val="DDE4FA"/>
          </a:solidFill>
          <a:ln w="11906">
            <a:solidFill>
              <a:srgbClr val="7D8EBE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TSB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3F7ED10-47E4-483C-981E-A412F11559D7}"/>
              </a:ext>
            </a:extLst>
          </p:cNvPr>
          <p:cNvSpPr>
            <a:spLocks noGrp="1"/>
          </p:cNvSpPr>
          <p:nvPr/>
        </p:nvSpPr>
        <p:spPr>
          <a:xfrm>
            <a:off x="6219825" y="4000500"/>
            <a:ext cx="800100" cy="476250"/>
          </a:xfrm>
          <a:prstGeom prst="roundRect">
            <a:avLst>
              <a:gd name="adj" fmla="val 16000"/>
            </a:avLst>
          </a:prstGeom>
          <a:solidFill>
            <a:srgbClr val="DDE4FA"/>
          </a:solidFill>
          <a:ln w="11906">
            <a:solidFill>
              <a:srgbClr val="7D8EBE"/>
            </a:solidFill>
            <a:prstDash val="solid"/>
          </a:ln>
        </p:spPr>
        <p:txBody>
          <a:bodyPr wrap="square" lIns="76200" tIns="47625" rIns="76200" bIns="47625" anchor="ctr">
            <a:normAutofit fontScale="99463" lnSpcReduction="10000"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Random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Forest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2373FB-282F-4FA9-B06B-6DDE49CEF7B4}"/>
              </a:ext>
            </a:extLst>
          </p:cNvPr>
          <p:cNvSpPr>
            <a:spLocks noGrp="1"/>
          </p:cNvSpPr>
          <p:nvPr/>
        </p:nvSpPr>
        <p:spPr>
          <a:xfrm>
            <a:off x="7200900" y="4000500"/>
            <a:ext cx="800100" cy="476250"/>
          </a:xfrm>
          <a:prstGeom prst="roundRect">
            <a:avLst>
              <a:gd name="adj" fmla="val 16000"/>
            </a:avLst>
          </a:prstGeom>
          <a:solidFill>
            <a:srgbClr val="DDE4FA"/>
          </a:solidFill>
          <a:ln w="11906">
            <a:solidFill>
              <a:srgbClr val="7D8EBE"/>
            </a:solidFill>
            <a:prstDash val="solid"/>
          </a:ln>
        </p:spPr>
        <p:txBody>
          <a:bodyPr wrap="square" lIns="76200" tIns="47625" rIns="76200" bIns="47625" anchor="ctr">
            <a:normAutofit fontScale="94485"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 err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XGBoo</a:t>
            </a:r>
            <a:r>
              <a:rPr lang="en-US" sz="1275" b="1" dirty="0" err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</a:t>
            </a:r>
            <a:r>
              <a:rPr sz="1275" b="1" dirty="0" err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t</a:t>
            </a:r>
            <a:endParaRPr sz="1275" b="1" dirty="0">
              <a:solidFill>
                <a:srgbClr val="171B2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1C30978-207B-4E68-9962-80CE768F574F}"/>
              </a:ext>
            </a:extLst>
          </p:cNvPr>
          <p:cNvSpPr>
            <a:spLocks noGrp="1"/>
          </p:cNvSpPr>
          <p:nvPr/>
        </p:nvSpPr>
        <p:spPr>
          <a:xfrm>
            <a:off x="5238750" y="4762500"/>
            <a:ext cx="2762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1906">
            <a:solidFill>
              <a:srgbClr val="8997C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Hybrid Model Selection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73A275C-099D-4349-B30F-59AEE4804B7E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2762250" cy="609600"/>
          </a:xfrm>
          <a:prstGeom prst="roundRect">
            <a:avLst>
              <a:gd name="adj" fmla="val 12500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Forecast Validation</a:t>
            </a:r>
          </a:p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MAE and RMSE</a:t>
            </a:r>
          </a:p>
        </p:txBody>
      </p:sp>
      <p:cxnSp>
        <p:nvCxnSpPr>
          <p:cNvPr id="104" name="Straight Arrow Connector 103"/>
          <p:cNvCxnSpPr>
            <a:stCxn id="24" idx="3"/>
            <a:endCxn id="31" idx="1"/>
          </p:cNvCxnSpPr>
          <p:nvPr/>
        </p:nvCxnSpPr>
        <p:spPr>
          <a:xfrm flipV="1">
            <a:off x="4686300" y="2409825"/>
            <a:ext cx="552450" cy="3133725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105" name="Straight Arrow Connector 104"/>
          <p:cNvCxnSpPr>
            <a:stCxn id="31" idx="2"/>
            <a:endCxn id="32" idx="0"/>
          </p:cNvCxnSpPr>
          <p:nvPr/>
        </p:nvCxnSpPr>
        <p:spPr>
          <a:xfrm>
            <a:off x="6619875" y="2705100"/>
            <a:ext cx="0" cy="24765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06" name="Connector: Elbow 105"/>
          <p:cNvCxnSpPr>
            <a:stCxn id="32" idx="2"/>
            <a:endCxn id="33" idx="0"/>
          </p:cNvCxnSpPr>
          <p:nvPr/>
        </p:nvCxnSpPr>
        <p:spPr>
          <a:xfrm flipH="1">
            <a:off x="5638800" y="3695700"/>
            <a:ext cx="981075" cy="30480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07" name="Straight Arrow Connector 106"/>
          <p:cNvCxnSpPr>
            <a:stCxn id="32" idx="2"/>
            <a:endCxn id="34" idx="0"/>
          </p:cNvCxnSpPr>
          <p:nvPr/>
        </p:nvCxnSpPr>
        <p:spPr>
          <a:xfrm>
            <a:off x="6619875" y="3695700"/>
            <a:ext cx="0" cy="30480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08" name="Connector: Elbow 107"/>
          <p:cNvCxnSpPr>
            <a:stCxn id="32" idx="2"/>
            <a:endCxn id="35" idx="0"/>
          </p:cNvCxnSpPr>
          <p:nvPr/>
        </p:nvCxnSpPr>
        <p:spPr>
          <a:xfrm>
            <a:off x="6619875" y="3695700"/>
            <a:ext cx="981075" cy="30480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09" name="Connector: Elbow 108"/>
          <p:cNvCxnSpPr>
            <a:stCxn id="33" idx="2"/>
            <a:endCxn id="36" idx="0"/>
          </p:cNvCxnSpPr>
          <p:nvPr/>
        </p:nvCxnSpPr>
        <p:spPr>
          <a:xfrm>
            <a:off x="5638800" y="4476750"/>
            <a:ext cx="981075" cy="2857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10" name="Straight Arrow Connector 109"/>
          <p:cNvCxnSpPr>
            <a:stCxn id="34" idx="2"/>
            <a:endCxn id="36" idx="0"/>
          </p:cNvCxnSpPr>
          <p:nvPr/>
        </p:nvCxnSpPr>
        <p:spPr>
          <a:xfrm>
            <a:off x="6619875" y="4476750"/>
            <a:ext cx="0" cy="28575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11" name="Connector: Elbow 110"/>
          <p:cNvCxnSpPr>
            <a:stCxn id="35" idx="2"/>
            <a:endCxn id="36" idx="0"/>
          </p:cNvCxnSpPr>
          <p:nvPr/>
        </p:nvCxnSpPr>
        <p:spPr>
          <a:xfrm flipH="1">
            <a:off x="6619875" y="4476750"/>
            <a:ext cx="981075" cy="2857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12" name="Straight Arrow Connector 111"/>
          <p:cNvCxnSpPr>
            <a:stCxn id="36" idx="2"/>
            <a:endCxn id="37" idx="0"/>
          </p:cNvCxnSpPr>
          <p:nvPr/>
        </p:nvCxnSpPr>
        <p:spPr>
          <a:xfrm>
            <a:off x="6619875" y="5314950"/>
            <a:ext cx="0" cy="30480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1D055F8-CCDE-4340-BEDF-861EEAE096FB}"/>
              </a:ext>
            </a:extLst>
          </p:cNvPr>
          <p:cNvSpPr>
            <a:spLocks noGrp="1"/>
          </p:cNvSpPr>
          <p:nvPr/>
        </p:nvSpPr>
        <p:spPr>
          <a:xfrm>
            <a:off x="8572500" y="2076450"/>
            <a:ext cx="3048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Forecast Demand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0DB44AF-D0CF-442E-B41F-3D542E784ED7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3048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Lead-Time Demand and Safety Stock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262C5C1-D24E-4104-9F66-98A84DD574CD}"/>
              </a:ext>
            </a:extLst>
          </p:cNvPr>
          <p:cNvSpPr>
            <a:spLocks noGrp="1"/>
          </p:cNvSpPr>
          <p:nvPr/>
        </p:nvSpPr>
        <p:spPr>
          <a:xfrm>
            <a:off x="8572500" y="3543300"/>
            <a:ext cx="304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Inventory Position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Stock + Incoming Supply − Backorder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7490210-935F-4B83-8038-9A9DD3D30D0F}"/>
              </a:ext>
            </a:extLst>
          </p:cNvPr>
          <p:cNvSpPr>
            <a:spLocks noGrp="1"/>
          </p:cNvSpPr>
          <p:nvPr/>
        </p:nvSpPr>
        <p:spPr>
          <a:xfrm>
            <a:off x="8572500" y="441960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 fontScale="98822" lnSpcReduction="10000"/>
          </a:bodyPr>
          <a:lstStyle/>
          <a:p>
            <a:pPr algn="ctr">
              <a:def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Stock Policy</a:t>
            </a:r>
          </a:p>
          <a:p>
            <a:pPr algn="ctr">
              <a:def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Minimum and Maximum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31E5BF2-E85D-4A6B-B2B6-77C830C11C50}"/>
              </a:ext>
            </a:extLst>
          </p:cNvPr>
          <p:cNvSpPr>
            <a:spLocks noGrp="1"/>
          </p:cNvSpPr>
          <p:nvPr/>
        </p:nvSpPr>
        <p:spPr>
          <a:xfrm>
            <a:off x="10001250" y="44196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Decision Rules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CBD6190-E70C-4443-821E-C4725349AA73}"/>
              </a:ext>
            </a:extLst>
          </p:cNvPr>
          <p:cNvSpPr>
            <a:spLocks noGrp="1"/>
          </p:cNvSpPr>
          <p:nvPr/>
        </p:nvSpPr>
        <p:spPr>
          <a:xfrm>
            <a:off x="8572500" y="5286375"/>
            <a:ext cx="895350" cy="400050"/>
          </a:xfrm>
          <a:prstGeom prst="roundRect">
            <a:avLst>
              <a:gd name="adj" fmla="val 19048"/>
            </a:avLst>
          </a:prstGeom>
          <a:solidFill>
            <a:srgbClr val="DDF5E8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ORDER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4F53A55-21E7-4C31-A994-0203F5FFF9A4}"/>
              </a:ext>
            </a:extLst>
          </p:cNvPr>
          <p:cNvSpPr>
            <a:spLocks noGrp="1"/>
          </p:cNvSpPr>
          <p:nvPr/>
        </p:nvSpPr>
        <p:spPr>
          <a:xfrm>
            <a:off x="9572625" y="5286375"/>
            <a:ext cx="952500" cy="400050"/>
          </a:xfrm>
          <a:prstGeom prst="roundRect">
            <a:avLst>
              <a:gd name="adj" fmla="val 19048"/>
            </a:avLst>
          </a:prstGeom>
          <a:solidFill>
            <a:srgbClr val="EEF0F4"/>
          </a:solidFill>
          <a:ln w="11906">
            <a:solidFill>
              <a:srgbClr val="9399A6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4E55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5564"/>
                </a:solidFill>
                <a:latin typeface="Bitstream Charter"/>
                <a:ea typeface="Bitstream Charter"/>
                <a:cs typeface="Bitstream Charter"/>
              </a:rPr>
              <a:t>NO ORDER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B01192D5-FAF0-4946-9157-D3F0F3A9EC0D}"/>
              </a:ext>
            </a:extLst>
          </p:cNvPr>
          <p:cNvSpPr>
            <a:spLocks noGrp="1"/>
          </p:cNvSpPr>
          <p:nvPr/>
        </p:nvSpPr>
        <p:spPr>
          <a:xfrm>
            <a:off x="10629900" y="5286375"/>
            <a:ext cx="990600" cy="400050"/>
          </a:xfrm>
          <a:prstGeom prst="roundRect">
            <a:avLst>
              <a:gd name="adj" fmla="val 19048"/>
            </a:avLst>
          </a:prstGeom>
          <a:solidFill>
            <a:srgbClr val="FFF1D8"/>
          </a:solidFill>
          <a:ln w="11906">
            <a:solidFill>
              <a:srgbClr val="E09B22"/>
            </a:solidFill>
            <a:prstDash val="solid"/>
          </a:ln>
        </p:spPr>
        <p:txBody>
          <a:bodyPr wrap="square" lIns="76200" tIns="47625" rIns="76200" bIns="47625" anchor="ctr">
            <a:normAutofit fontScale="81291" lnSpcReduction="10000"/>
          </a:bodyPr>
          <a:lstStyle/>
          <a:p>
            <a:pPr algn="ctr">
              <a:def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  <a:p>
            <a:pPr algn="ctr">
              <a:def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rPr>
              <a:t>REQUIRED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152A770-FDB3-46B5-8301-F0B348596EAA}"/>
              </a:ext>
            </a:extLst>
          </p:cNvPr>
          <p:cNvSpPr>
            <a:spLocks noGrp="1"/>
          </p:cNvSpPr>
          <p:nvPr/>
        </p:nvSpPr>
        <p:spPr>
          <a:xfrm>
            <a:off x="8572500" y="5943600"/>
            <a:ext cx="3048000" cy="400050"/>
          </a:xfrm>
          <a:prstGeom prst="roundRect">
            <a:avLst>
              <a:gd name="adj" fmla="val 19048"/>
            </a:avLst>
          </a:prstGeom>
          <a:solidFill>
            <a:srgbClr val="B82732"/>
          </a:solidFill>
          <a:ln w="11906">
            <a:solidFill>
              <a:srgbClr val="B82732"/>
            </a:solidFill>
            <a:prstDash val="solid"/>
          </a:ln>
        </p:spPr>
        <p:txBody>
          <a:bodyPr wrap="square" lIns="76200" tIns="47625" rIns="76200" bIns="47625" anchor="ctr">
            <a:normAutofit fontScale="91143"/>
          </a:bodyPr>
          <a:lstStyle/>
          <a:p>
            <a:pPr algn="ctr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Suggested Quantity · Decision Reason · Action Note</a:t>
            </a:r>
          </a:p>
        </p:txBody>
      </p:sp>
      <p:cxnSp>
        <p:nvCxnSpPr>
          <p:cNvPr id="122" name="Straight Arrow Connector 121"/>
          <p:cNvCxnSpPr>
            <a:stCxn id="37" idx="3"/>
            <a:endCxn id="47" idx="1"/>
          </p:cNvCxnSpPr>
          <p:nvPr/>
        </p:nvCxnSpPr>
        <p:spPr>
          <a:xfrm flipV="1">
            <a:off x="8001000" y="2305050"/>
            <a:ext cx="571500" cy="361950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123" name="Straight Arrow Connector 122"/>
          <p:cNvCxnSpPr>
            <a:stCxn id="47" idx="2"/>
            <a:endCxn id="48" idx="0"/>
          </p:cNvCxnSpPr>
          <p:nvPr/>
        </p:nvCxnSpPr>
        <p:spPr>
          <a:xfrm>
            <a:off x="10096500" y="2533650"/>
            <a:ext cx="0" cy="24765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4" name="Straight Arrow Connector 123"/>
          <p:cNvCxnSpPr>
            <a:stCxn id="48" idx="2"/>
            <a:endCxn id="49" idx="0"/>
          </p:cNvCxnSpPr>
          <p:nvPr/>
        </p:nvCxnSpPr>
        <p:spPr>
          <a:xfrm>
            <a:off x="10096500" y="3295650"/>
            <a:ext cx="0" cy="24765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6" name="Straight Arrow Connector 125"/>
          <p:cNvCxnSpPr>
            <a:stCxn id="50" idx="3"/>
            <a:endCxn id="51" idx="1"/>
          </p:cNvCxnSpPr>
          <p:nvPr/>
        </p:nvCxnSpPr>
        <p:spPr>
          <a:xfrm>
            <a:off x="9810750" y="4724400"/>
            <a:ext cx="190500" cy="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7" name="Connector: Elbow 126"/>
          <p:cNvCxnSpPr>
            <a:cxnSpLocks/>
            <a:stCxn id="51" idx="2"/>
            <a:endCxn id="52" idx="0"/>
          </p:cNvCxnSpPr>
          <p:nvPr/>
        </p:nvCxnSpPr>
        <p:spPr>
          <a:xfrm flipH="1">
            <a:off x="9020175" y="5029200"/>
            <a:ext cx="1790700" cy="257175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9" name="Connector: Elbow 128"/>
          <p:cNvCxnSpPr>
            <a:stCxn id="51" idx="2"/>
            <a:endCxn id="54" idx="0"/>
          </p:cNvCxnSpPr>
          <p:nvPr/>
        </p:nvCxnSpPr>
        <p:spPr>
          <a:xfrm>
            <a:off x="10810875" y="5029200"/>
            <a:ext cx="314325" cy="257175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8CF4FC7-DBF1-28E5-5073-769EA6810A04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10048875" y="5157787"/>
            <a:ext cx="0" cy="1285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D64C190E-335D-5967-750C-24177BB09A9D}"/>
              </a:ext>
            </a:extLst>
          </p:cNvPr>
          <p:cNvCxnSpPr/>
          <p:nvPr/>
        </p:nvCxnSpPr>
        <p:spPr>
          <a:xfrm rot="16200000" flipH="1">
            <a:off x="8960802" y="5760718"/>
            <a:ext cx="257175" cy="10858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7C2D462-984C-C814-C4E9-5424CCE4CB30}"/>
              </a:ext>
            </a:extLst>
          </p:cNvPr>
          <p:cNvCxnSpPr>
            <a:cxnSpLocks/>
          </p:cNvCxnSpPr>
          <p:nvPr/>
        </p:nvCxnSpPr>
        <p:spPr>
          <a:xfrm rot="5400000">
            <a:off x="10938510" y="5766434"/>
            <a:ext cx="266701" cy="10668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3C892ED-2A1C-5D6C-C469-75FE132A6971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10048875" y="5686425"/>
            <a:ext cx="0" cy="2533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52E3676C-6457-9D28-3CFF-B4AF4DAA794E}"/>
              </a:ext>
            </a:extLst>
          </p:cNvPr>
          <p:cNvCxnSpPr>
            <a:cxnSpLocks/>
          </p:cNvCxnSpPr>
          <p:nvPr/>
        </p:nvCxnSpPr>
        <p:spPr>
          <a:xfrm rot="5400000">
            <a:off x="9496899" y="3843338"/>
            <a:ext cx="247650" cy="904875"/>
          </a:xfrm>
          <a:prstGeom prst="bentConnector3">
            <a:avLst>
              <a:gd name="adj1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80004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9736C-532F-07F7-840C-20146C29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ED0E83D8-3353-6790-C483-5C00F36AD3F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700" b="1">
                <a:solidFill>
                  <a:srgbClr val="18205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dirty="0">
                <a:solidFill>
                  <a:srgbClr val="18205D"/>
                </a:solidFill>
                <a:latin typeface="Bitstream Charter"/>
                <a:ea typeface="Bitstream Charter"/>
                <a:cs typeface="Bitstream Charter"/>
              </a:rPr>
              <a:t>D-PRIME Forecasting and Replenishment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CB3CA7-9A85-E3EF-2087-E6B2CF56094E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3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dirty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rPr>
              <a:t>From operational data to explainable order recommendations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44610D-B186-F803-2C2E-8F2F58A7D0F3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619250" cy="47625"/>
          </a:xfrm>
          <a:prstGeom prst="rect">
            <a:avLst/>
          </a:prstGeom>
          <a:solidFill>
            <a:srgbClr val="EF2029"/>
          </a:solidFill>
          <a:ln w="0">
            <a:solidFill>
              <a:srgbClr val="EF2029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16FF1-E977-1579-D9AE-CA7E7C41126B}"/>
              </a:ext>
            </a:extLst>
          </p:cNvPr>
          <p:cNvSpPr>
            <a:spLocks noGrp="1"/>
          </p:cNvSpPr>
          <p:nvPr/>
        </p:nvSpPr>
        <p:spPr>
          <a:xfrm>
            <a:off x="10572750" y="457200"/>
            <a:ext cx="1066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500" b="1">
                <a:solidFill>
                  <a:srgbClr val="EF202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EF2029"/>
                </a:solidFill>
                <a:latin typeface="Bitstream Charter"/>
                <a:ea typeface="Bitstream Charter"/>
                <a:cs typeface="Bitstream Charter"/>
              </a:rPr>
              <a:t>D-PRIME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2C2113-EC30-E068-F517-2925A013836C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2190750" cy="5048250"/>
          </a:xfrm>
          <a:prstGeom prst="roundRect">
            <a:avLst>
              <a:gd name="adj" fmla="val 3478"/>
            </a:avLst>
          </a:prstGeom>
          <a:solidFill>
            <a:srgbClr val="EEF1F8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3B9E35-F5B8-F31C-37A0-672B20CC51DB}"/>
              </a:ext>
            </a:extLst>
          </p:cNvPr>
          <p:cNvSpPr>
            <a:spLocks noGrp="1"/>
          </p:cNvSpPr>
          <p:nvPr/>
        </p:nvSpPr>
        <p:spPr>
          <a:xfrm>
            <a:off x="476250" y="1543050"/>
            <a:ext cx="2000250" cy="419100"/>
          </a:xfrm>
          <a:prstGeom prst="roundRect">
            <a:avLst>
              <a:gd name="adj" fmla="val 18182"/>
            </a:avLst>
          </a:prstGeom>
          <a:solidFill>
            <a:srgbClr val="435991"/>
          </a:solidFill>
          <a:ln w="0">
            <a:solidFill>
              <a:srgbClr val="43599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CCA7E-148D-5FFC-00F2-C2696DDF3AF4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1847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01  DATA SOURCES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EC59A9-E558-41B8-4981-75919E14804A}"/>
              </a:ext>
            </a:extLst>
          </p:cNvPr>
          <p:cNvSpPr>
            <a:spLocks noGrp="1"/>
          </p:cNvSpPr>
          <p:nvPr/>
        </p:nvSpPr>
        <p:spPr>
          <a:xfrm>
            <a:off x="2762250" y="1428750"/>
            <a:ext cx="2095500" cy="5048250"/>
          </a:xfrm>
          <a:prstGeom prst="roundRect">
            <a:avLst>
              <a:gd name="adj" fmla="val 3636"/>
            </a:avLst>
          </a:prstGeom>
          <a:solidFill>
            <a:srgbClr val="F0F2F6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C2D5F8-37E6-D982-6067-248565192268}"/>
              </a:ext>
            </a:extLst>
          </p:cNvPr>
          <p:cNvSpPr>
            <a:spLocks noGrp="1"/>
          </p:cNvSpPr>
          <p:nvPr/>
        </p:nvSpPr>
        <p:spPr>
          <a:xfrm>
            <a:off x="2857500" y="1543050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596579"/>
          </a:solidFill>
          <a:ln w="0">
            <a:solidFill>
              <a:srgbClr val="596579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C5657-744D-224A-DEFD-05069D650F86}"/>
              </a:ext>
            </a:extLst>
          </p:cNvPr>
          <p:cNvSpPr>
            <a:spLocks noGrp="1"/>
          </p:cNvSpPr>
          <p:nvPr/>
        </p:nvSpPr>
        <p:spPr>
          <a:xfrm>
            <a:off x="2933700" y="158115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9897"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02  DATA PREPARATION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3132DA-C711-476C-2114-4AABD5E86CCF}"/>
              </a:ext>
            </a:extLst>
          </p:cNvPr>
          <p:cNvSpPr>
            <a:spLocks noGrp="1"/>
          </p:cNvSpPr>
          <p:nvPr/>
        </p:nvSpPr>
        <p:spPr>
          <a:xfrm>
            <a:off x="5048250" y="1437957"/>
            <a:ext cx="3143250" cy="5048250"/>
          </a:xfrm>
          <a:prstGeom prst="roundRect">
            <a:avLst>
              <a:gd name="adj" fmla="val 2424"/>
            </a:avLst>
          </a:prstGeom>
          <a:solidFill>
            <a:srgbClr val="EBEEF7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1FF1DB-74D6-B679-983C-3138C2DDA26E}"/>
              </a:ext>
            </a:extLst>
          </p:cNvPr>
          <p:cNvSpPr>
            <a:spLocks noGrp="1"/>
          </p:cNvSpPr>
          <p:nvPr/>
        </p:nvSpPr>
        <p:spPr>
          <a:xfrm>
            <a:off x="5143500" y="1543050"/>
            <a:ext cx="2952750" cy="419100"/>
          </a:xfrm>
          <a:prstGeom prst="roundRect">
            <a:avLst>
              <a:gd name="adj" fmla="val 18182"/>
            </a:avLst>
          </a:prstGeom>
          <a:solidFill>
            <a:srgbClr val="263775"/>
          </a:solidFill>
          <a:ln w="0">
            <a:solidFill>
              <a:srgbClr val="263775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67036A-B060-1CC2-9EA7-C79ACD9B5DAA}"/>
              </a:ext>
            </a:extLst>
          </p:cNvPr>
          <p:cNvSpPr>
            <a:spLocks noGrp="1"/>
          </p:cNvSpPr>
          <p:nvPr/>
        </p:nvSpPr>
        <p:spPr>
          <a:xfrm>
            <a:off x="5219700" y="1581150"/>
            <a:ext cx="2800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03  DEMAND FORECASTING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573E96-FFD1-B3DF-98F9-3200A9837AF0}"/>
              </a:ext>
            </a:extLst>
          </p:cNvPr>
          <p:cNvSpPr>
            <a:spLocks noGrp="1"/>
          </p:cNvSpPr>
          <p:nvPr/>
        </p:nvSpPr>
        <p:spPr>
          <a:xfrm>
            <a:off x="8382000" y="1428750"/>
            <a:ext cx="3429000" cy="5048250"/>
          </a:xfrm>
          <a:prstGeom prst="roundRect">
            <a:avLst>
              <a:gd name="adj" fmla="val 2222"/>
            </a:avLst>
          </a:prstGeom>
          <a:solidFill>
            <a:srgbClr val="FAECEE"/>
          </a:solidFill>
          <a:ln w="9525">
            <a:solidFill>
              <a:srgbClr val="D9DEEA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DF22C5-DC9D-F8CD-4AB1-9AFD146B0821}"/>
              </a:ext>
            </a:extLst>
          </p:cNvPr>
          <p:cNvSpPr>
            <a:spLocks noGrp="1"/>
          </p:cNvSpPr>
          <p:nvPr/>
        </p:nvSpPr>
        <p:spPr>
          <a:xfrm>
            <a:off x="8477250" y="1543050"/>
            <a:ext cx="3238500" cy="419100"/>
          </a:xfrm>
          <a:prstGeom prst="roundRect">
            <a:avLst>
              <a:gd name="adj" fmla="val 18182"/>
            </a:avLst>
          </a:prstGeom>
          <a:solidFill>
            <a:srgbClr val="B82732"/>
          </a:solidFill>
          <a:ln w="0">
            <a:solidFill>
              <a:srgbClr val="B82732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AC7788-1A4A-76FB-D969-99F6104478DD}"/>
              </a:ext>
            </a:extLst>
          </p:cNvPr>
          <p:cNvSpPr>
            <a:spLocks noGrp="1"/>
          </p:cNvSpPr>
          <p:nvPr/>
        </p:nvSpPr>
        <p:spPr>
          <a:xfrm>
            <a:off x="8553450" y="15811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04  REPLENISHMENT DECISION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87B747-46DC-9778-07AE-E6ADF033AA5B}"/>
              </a:ext>
            </a:extLst>
          </p:cNvPr>
          <p:cNvSpPr>
            <a:spLocks noGrp="1"/>
          </p:cNvSpPr>
          <p:nvPr/>
        </p:nvSpPr>
        <p:spPr>
          <a:xfrm>
            <a:off x="552450" y="2143125"/>
            <a:ext cx="18478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1906">
            <a:solidFill>
              <a:srgbClr val="9EABD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Internal Data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Usage, Stock, Stock Policy, Watchlist, MIGO, Backorder, WRS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579EDE7-577B-6E89-1FC7-9E7F21594182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8478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906">
            <a:solidFill>
              <a:srgbClr val="9EABD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External Data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Seasonality, Calendar Events, PMI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E20B6A-6824-30F7-4A5D-2D8AA7EAE25D}"/>
              </a:ext>
            </a:extLst>
          </p:cNvPr>
          <p:cNvSpPr>
            <a:spLocks noGrp="1"/>
          </p:cNvSpPr>
          <p:nvPr/>
        </p:nvSpPr>
        <p:spPr>
          <a:xfrm>
            <a:off x="552450" y="4667250"/>
            <a:ext cx="1847850" cy="876300"/>
          </a:xfrm>
          <a:prstGeom prst="roundRect">
            <a:avLst>
              <a:gd name="adj" fmla="val 8696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Currency Trend</a:t>
            </a:r>
          </a:p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Validated external feature used by the forecast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FC23B5-39E0-1E12-0D67-AFEBDFF3749E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1847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97089"/>
                </a:solidFill>
                <a:latin typeface="Bitstream Charter"/>
                <a:ea typeface="Bitstream Charter"/>
                <a:cs typeface="Bitstream Charter"/>
              </a:defRPr>
            </a:pPr>
            <a:endParaRPr sz="1050" b="0" dirty="0">
              <a:solidFill>
                <a:srgbClr val="69708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A256D5-3404-615A-CF74-D8400444967E}"/>
              </a:ext>
            </a:extLst>
          </p:cNvPr>
          <p:cNvSpPr>
            <a:spLocks noGrp="1"/>
          </p:cNvSpPr>
          <p:nvPr/>
        </p:nvSpPr>
        <p:spPr>
          <a:xfrm>
            <a:off x="2933700" y="2190750"/>
            <a:ext cx="17526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File and Column Validation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900417-0438-E914-7615-F604A3EB2451}"/>
              </a:ext>
            </a:extLst>
          </p:cNvPr>
          <p:cNvSpPr>
            <a:spLocks noGrp="1"/>
          </p:cNvSpPr>
          <p:nvPr/>
        </p:nvSpPr>
        <p:spPr>
          <a:xfrm>
            <a:off x="2933700" y="314325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Data Cleaning and Standardization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26288C2-B22F-3E90-A840-251C2580D455}"/>
              </a:ext>
            </a:extLst>
          </p:cNvPr>
          <p:cNvSpPr>
            <a:spLocks noGrp="1"/>
          </p:cNvSpPr>
          <p:nvPr/>
        </p:nvSpPr>
        <p:spPr>
          <a:xfrm>
            <a:off x="2933700" y="4171950"/>
            <a:ext cx="17526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AAB2C0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Part Number Integration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CD564B8-99C3-B418-791F-C1646FAC4F7D}"/>
              </a:ext>
            </a:extLst>
          </p:cNvPr>
          <p:cNvSpPr>
            <a:spLocks noGrp="1"/>
          </p:cNvSpPr>
          <p:nvPr/>
        </p:nvSpPr>
        <p:spPr>
          <a:xfrm>
            <a:off x="2933700" y="5219700"/>
            <a:ext cx="1752600" cy="647700"/>
          </a:xfrm>
          <a:prstGeom prst="roundRect">
            <a:avLst>
              <a:gd name="adj" fmla="val 11765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Validated Analysis Dataset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8D07468-C71A-D6BC-CA2C-F0D54CE5FE9D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3810000" y="2781300"/>
            <a:ext cx="0" cy="36195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C5BA481-DC9E-3AB8-E22D-050E4501239C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3810000" y="3790950"/>
            <a:ext cx="0" cy="38100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A8019B7-ECCF-CF0C-7D77-0A987C94C79C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3810000" y="4762500"/>
            <a:ext cx="0" cy="45720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AE1AD9D-2155-DCE4-1AA8-6A38E67A23BD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2400300" y="2486025"/>
            <a:ext cx="533400" cy="0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632C06B-6584-12B7-5021-14A94515521E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 flipV="1">
            <a:off x="2400300" y="2486025"/>
            <a:ext cx="533400" cy="1457325"/>
          </a:xfrm>
          <a:prstGeom prst="bentConnector3">
            <a:avLst>
              <a:gd name="adj1" fmla="val 50000"/>
            </a:avLst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58D7AB9-5E0E-6747-FAC9-06D1C69A2383}"/>
              </a:ext>
            </a:extLst>
          </p:cNvPr>
          <p:cNvCxnSpPr>
            <a:cxnSpLocks/>
          </p:cNvCxnSpPr>
          <p:nvPr/>
        </p:nvCxnSpPr>
        <p:spPr>
          <a:xfrm flipV="1">
            <a:off x="2405831" y="2486025"/>
            <a:ext cx="533400" cy="2619375"/>
          </a:xfrm>
          <a:prstGeom prst="bentConnector3">
            <a:avLst>
              <a:gd name="adj1" fmla="val 50000"/>
            </a:avLst>
          </a:prstGeom>
          <a:ln w="15240">
            <a:solidFill>
              <a:srgbClr val="21A365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8D7AD27-21C2-1C45-22A6-647F99EE9D0E}"/>
              </a:ext>
            </a:extLst>
          </p:cNvPr>
          <p:cNvSpPr>
            <a:spLocks noGrp="1"/>
          </p:cNvSpPr>
          <p:nvPr/>
        </p:nvSpPr>
        <p:spPr>
          <a:xfrm>
            <a:off x="5238750" y="211455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1906">
            <a:solidFill>
              <a:srgbClr val="8997C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Demand Analysis</a:t>
            </a:r>
          </a:p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(</a:t>
            </a:r>
            <a:r>
              <a:rPr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ADI and CV²</a:t>
            </a:r>
            <a:r>
              <a:rPr lang="en-US" sz="1275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 Calculation)</a:t>
            </a:r>
            <a:endParaRPr sz="1275" b="1" dirty="0">
              <a:solidFill>
                <a:srgbClr val="171B2C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8CA5383-6116-C312-F972-496E4270BB06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276225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1906">
            <a:solidFill>
              <a:srgbClr val="8997C2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Demand Pattern Classification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Smooth, Erratic, Intermittent, Lumpy, No Demand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04EE800-B9E3-002D-B8B9-8455EDFD7A48}"/>
              </a:ext>
            </a:extLst>
          </p:cNvPr>
          <p:cNvSpPr>
            <a:spLocks noGrp="1"/>
          </p:cNvSpPr>
          <p:nvPr/>
        </p:nvSpPr>
        <p:spPr>
          <a:xfrm>
            <a:off x="5920898" y="4038600"/>
            <a:ext cx="1397953" cy="476250"/>
          </a:xfrm>
          <a:prstGeom prst="roundRect">
            <a:avLst>
              <a:gd name="adj" fmla="val 16000"/>
            </a:avLst>
          </a:prstGeom>
          <a:solidFill>
            <a:srgbClr val="DDE4FA"/>
          </a:solidFill>
          <a:ln w="11906">
            <a:solidFill>
              <a:srgbClr val="7D8EBE"/>
            </a:solidFill>
            <a:prstDash val="solid"/>
          </a:ln>
        </p:spPr>
        <p:txBody>
          <a:bodyPr wrap="square" lIns="76200" tIns="47625" rIns="76200" bIns="47625" anchor="ctr">
            <a:normAutofit fontScale="99463" lnSpcReduction="10000"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200" b="1" dirty="0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Machine Learning Modelling</a:t>
            </a:r>
            <a:endParaRPr sz="1200" b="1" dirty="0">
              <a:solidFill>
                <a:srgbClr val="171B2C"/>
              </a:solidFill>
              <a:latin typeface="Bitstream Charter"/>
              <a:ea typeface="Bitstream Charter"/>
              <a:cs typeface="Bitstream Charter"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BD945C6-1CB0-B490-A1B9-DF52BCD21017}"/>
              </a:ext>
            </a:extLst>
          </p:cNvPr>
          <p:cNvCxnSpPr>
            <a:stCxn id="24" idx="3"/>
            <a:endCxn id="31" idx="1"/>
          </p:cNvCxnSpPr>
          <p:nvPr/>
        </p:nvCxnSpPr>
        <p:spPr>
          <a:xfrm flipV="1">
            <a:off x="4686300" y="2409825"/>
            <a:ext cx="552450" cy="3133725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636C14C-6646-F6ED-5CEF-3E91AB8318E5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6619875" y="2705100"/>
            <a:ext cx="0" cy="24765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C1073BB-864C-17A2-8107-AA712974DA7A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6619875" y="3695700"/>
            <a:ext cx="0" cy="342900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002585-15F2-9DCA-120D-522EBE4A12E9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619875" y="4514850"/>
            <a:ext cx="0" cy="376237"/>
          </a:xfrm>
          <a:prstGeom prst="straightConnector1">
            <a:avLst/>
          </a:prstGeom>
          <a:ln w="15240">
            <a:solidFill>
              <a:srgbClr val="66739B"/>
            </a:solidFill>
            <a:prstDash val="solid"/>
            <a:tailEnd type="triangle" w="sm" len="sm"/>
          </a:ln>
        </p:spPr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BF221BA-6415-5190-BB4C-4506D16C590E}"/>
              </a:ext>
            </a:extLst>
          </p:cNvPr>
          <p:cNvSpPr>
            <a:spLocks noGrp="1"/>
          </p:cNvSpPr>
          <p:nvPr/>
        </p:nvSpPr>
        <p:spPr>
          <a:xfrm>
            <a:off x="8572500" y="2076450"/>
            <a:ext cx="3048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Forecast Demand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A27B183-7EA8-2418-427F-7E7EFFA0A79A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3048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Lead-Time Demand and Safety Stock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DCC15E9-A992-1023-4634-93D13E0387D3}"/>
              </a:ext>
            </a:extLst>
          </p:cNvPr>
          <p:cNvSpPr>
            <a:spLocks noGrp="1"/>
          </p:cNvSpPr>
          <p:nvPr/>
        </p:nvSpPr>
        <p:spPr>
          <a:xfrm>
            <a:off x="8572500" y="3543300"/>
            <a:ext cx="30480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Inventory Position</a:t>
            </a:r>
          </a:p>
          <a:p>
            <a:pPr algn="ctr">
              <a:def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Stock + Incoming Supply − Backorder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EB8DE33-7640-CB44-8715-20A059FBB5E7}"/>
              </a:ext>
            </a:extLst>
          </p:cNvPr>
          <p:cNvSpPr>
            <a:spLocks noGrp="1"/>
          </p:cNvSpPr>
          <p:nvPr/>
        </p:nvSpPr>
        <p:spPr>
          <a:xfrm>
            <a:off x="8572500" y="441960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 fontScale="98822" lnSpcReduction="10000"/>
          </a:bodyPr>
          <a:lstStyle/>
          <a:p>
            <a:pPr algn="ctr">
              <a:def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Stock Policy</a:t>
            </a:r>
          </a:p>
          <a:p>
            <a:pPr algn="ctr">
              <a:def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Minimum and Maximum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9EA7BEF-7FFF-E380-295B-23B01EEBD55F}"/>
              </a:ext>
            </a:extLst>
          </p:cNvPr>
          <p:cNvSpPr>
            <a:spLocks noGrp="1"/>
          </p:cNvSpPr>
          <p:nvPr/>
        </p:nvSpPr>
        <p:spPr>
          <a:xfrm>
            <a:off x="10001250" y="44196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906">
            <a:solidFill>
              <a:srgbClr val="CF8E94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171B2C"/>
                </a:solidFill>
                <a:latin typeface="Bitstream Charter"/>
                <a:ea typeface="Bitstream Charter"/>
                <a:cs typeface="Bitstream Charter"/>
              </a:rPr>
              <a:t>Decision Rules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C40938A-CD98-073F-2DFA-515629AC4ABA}"/>
              </a:ext>
            </a:extLst>
          </p:cNvPr>
          <p:cNvSpPr>
            <a:spLocks noGrp="1"/>
          </p:cNvSpPr>
          <p:nvPr/>
        </p:nvSpPr>
        <p:spPr>
          <a:xfrm>
            <a:off x="8572500" y="5286375"/>
            <a:ext cx="895350" cy="400050"/>
          </a:xfrm>
          <a:prstGeom prst="roundRect">
            <a:avLst>
              <a:gd name="adj" fmla="val 19048"/>
            </a:avLst>
          </a:prstGeom>
          <a:solidFill>
            <a:srgbClr val="DDF5E8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ORDER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5322BC0-E7AA-F7F6-E341-423C6AD015D5}"/>
              </a:ext>
            </a:extLst>
          </p:cNvPr>
          <p:cNvSpPr>
            <a:spLocks noGrp="1"/>
          </p:cNvSpPr>
          <p:nvPr/>
        </p:nvSpPr>
        <p:spPr>
          <a:xfrm>
            <a:off x="9572625" y="5286375"/>
            <a:ext cx="952500" cy="400050"/>
          </a:xfrm>
          <a:prstGeom prst="roundRect">
            <a:avLst>
              <a:gd name="adj" fmla="val 19048"/>
            </a:avLst>
          </a:prstGeom>
          <a:solidFill>
            <a:srgbClr val="EEF0F4"/>
          </a:solidFill>
          <a:ln w="11906">
            <a:solidFill>
              <a:srgbClr val="9399A6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125" b="1">
                <a:solidFill>
                  <a:srgbClr val="4E55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4E5564"/>
                </a:solidFill>
                <a:latin typeface="Bitstream Charter"/>
                <a:ea typeface="Bitstream Charter"/>
                <a:cs typeface="Bitstream Charter"/>
              </a:rPr>
              <a:t>NO ORDER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A55A085-2546-8385-D5D3-9E81547562F0}"/>
              </a:ext>
            </a:extLst>
          </p:cNvPr>
          <p:cNvSpPr>
            <a:spLocks noGrp="1"/>
          </p:cNvSpPr>
          <p:nvPr/>
        </p:nvSpPr>
        <p:spPr>
          <a:xfrm>
            <a:off x="10629900" y="5286375"/>
            <a:ext cx="990600" cy="400050"/>
          </a:xfrm>
          <a:prstGeom prst="roundRect">
            <a:avLst>
              <a:gd name="adj" fmla="val 19048"/>
            </a:avLst>
          </a:prstGeom>
          <a:solidFill>
            <a:srgbClr val="FFF1D8"/>
          </a:solidFill>
          <a:ln w="11906">
            <a:solidFill>
              <a:srgbClr val="E09B22"/>
            </a:solidFill>
            <a:prstDash val="solid"/>
          </a:ln>
        </p:spPr>
        <p:txBody>
          <a:bodyPr wrap="square" lIns="76200" tIns="47625" rIns="76200" bIns="47625" anchor="ctr">
            <a:normAutofit fontScale="88791" lnSpcReduction="10000"/>
          </a:bodyPr>
          <a:lstStyle/>
          <a:p>
            <a:pPr algn="ctr">
              <a:def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rPr>
              <a:t>REVIEW</a:t>
            </a:r>
          </a:p>
          <a:p>
            <a:pPr algn="ctr">
              <a:def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965D00"/>
                </a:solidFill>
                <a:latin typeface="Bitstream Charter"/>
                <a:ea typeface="Bitstream Charter"/>
                <a:cs typeface="Bitstream Charter"/>
              </a:rPr>
              <a:t>REQUIRED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0F541A69-220C-5D81-90E9-521767B8426E}"/>
              </a:ext>
            </a:extLst>
          </p:cNvPr>
          <p:cNvSpPr>
            <a:spLocks noGrp="1"/>
          </p:cNvSpPr>
          <p:nvPr/>
        </p:nvSpPr>
        <p:spPr>
          <a:xfrm>
            <a:off x="8572500" y="5943600"/>
            <a:ext cx="3048000" cy="400050"/>
          </a:xfrm>
          <a:prstGeom prst="roundRect">
            <a:avLst>
              <a:gd name="adj" fmla="val 19048"/>
            </a:avLst>
          </a:prstGeom>
          <a:solidFill>
            <a:srgbClr val="B82732"/>
          </a:solidFill>
          <a:ln w="11906">
            <a:solidFill>
              <a:srgbClr val="B82732"/>
            </a:solidFill>
            <a:prstDash val="solid"/>
          </a:ln>
        </p:spPr>
        <p:txBody>
          <a:bodyPr wrap="square" lIns="76200" tIns="47625" rIns="76200" bIns="47625" anchor="ctr">
            <a:normAutofit fontScale="91143"/>
          </a:bodyPr>
          <a:lstStyle/>
          <a:p>
            <a:pPr algn="ctr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Suggested Quantity · Decision Reason · Action Note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1EF9D25-B616-F9EA-8AB9-3D041518A2E9}"/>
              </a:ext>
            </a:extLst>
          </p:cNvPr>
          <p:cNvCxnSpPr>
            <a:cxnSpLocks/>
            <a:stCxn id="27" idx="3"/>
            <a:endCxn id="47" idx="1"/>
          </p:cNvCxnSpPr>
          <p:nvPr/>
        </p:nvCxnSpPr>
        <p:spPr>
          <a:xfrm flipV="1">
            <a:off x="8049101" y="2305050"/>
            <a:ext cx="523399" cy="2914332"/>
          </a:xfrm>
          <a:prstGeom prst="straightConnector1">
            <a:avLst/>
          </a:prstGeom>
          <a:ln w="15240">
            <a:solidFill>
              <a:srgbClr val="7C8499"/>
            </a:solidFill>
            <a:prstDash val="solid"/>
            <a:tailEnd type="triangle" w="sm" len="sm"/>
          </a:ln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806B8D9-AA0E-EA4A-C6CF-E584BA61157E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10096500" y="2533650"/>
            <a:ext cx="0" cy="24765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3FBBB20C-4867-E7AD-AA37-FABB20DEDB7B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10096500" y="3295650"/>
            <a:ext cx="0" cy="24765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BC136BF0-7B47-7D37-7AAD-68EDB32828CE}"/>
              </a:ext>
            </a:extLst>
          </p:cNvPr>
          <p:cNvCxnSpPr>
            <a:cxnSpLocks/>
          </p:cNvCxnSpPr>
          <p:nvPr/>
        </p:nvCxnSpPr>
        <p:spPr>
          <a:xfrm rot="5400000">
            <a:off x="9496899" y="3843338"/>
            <a:ext cx="247650" cy="904875"/>
          </a:xfrm>
          <a:prstGeom prst="bentConnector3">
            <a:avLst>
              <a:gd name="adj1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14D7EAB-BE0B-608F-1601-BA7EBA6D3542}"/>
              </a:ext>
            </a:extLst>
          </p:cNvPr>
          <p:cNvCxnSpPr>
            <a:stCxn id="50" idx="3"/>
            <a:endCxn id="51" idx="1"/>
          </p:cNvCxnSpPr>
          <p:nvPr/>
        </p:nvCxnSpPr>
        <p:spPr>
          <a:xfrm>
            <a:off x="9810750" y="4724400"/>
            <a:ext cx="190500" cy="0"/>
          </a:xfrm>
          <a:prstGeom prst="straightConnector1">
            <a:avLst/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5963F86A-8AFB-F867-BB93-854858DF8B6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9020175" y="5029200"/>
            <a:ext cx="1790700" cy="257175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BD05ABF2-BE6C-D5A5-1E8F-8368E40EB442}"/>
              </a:ext>
            </a:extLst>
          </p:cNvPr>
          <p:cNvCxnSpPr>
            <a:stCxn id="51" idx="2"/>
            <a:endCxn id="54" idx="0"/>
          </p:cNvCxnSpPr>
          <p:nvPr/>
        </p:nvCxnSpPr>
        <p:spPr>
          <a:xfrm>
            <a:off x="10810875" y="5029200"/>
            <a:ext cx="314325" cy="257175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A34B54"/>
            </a:solidFill>
            <a:prstDash val="solid"/>
            <a:tailEnd type="triangle" w="sm" len="sm"/>
          </a:ln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CB1169-AE22-15B9-A014-EC3A62E139B4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10048875" y="5157787"/>
            <a:ext cx="0" cy="1285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6DFD4158-D1BC-E96F-A3E9-3E731EDA8B47}"/>
              </a:ext>
            </a:extLst>
          </p:cNvPr>
          <p:cNvCxnSpPr/>
          <p:nvPr/>
        </p:nvCxnSpPr>
        <p:spPr>
          <a:xfrm rot="16200000" flipH="1">
            <a:off x="8960802" y="5760718"/>
            <a:ext cx="257175" cy="108585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D65D705-6645-5E43-7320-531E391E6917}"/>
              </a:ext>
            </a:extLst>
          </p:cNvPr>
          <p:cNvCxnSpPr>
            <a:cxnSpLocks/>
          </p:cNvCxnSpPr>
          <p:nvPr/>
        </p:nvCxnSpPr>
        <p:spPr>
          <a:xfrm rot="5400000">
            <a:off x="10938510" y="5766434"/>
            <a:ext cx="266701" cy="106680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94BC64B-DE67-5BAC-52AB-66EAE9C05421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10048875" y="5686425"/>
            <a:ext cx="0" cy="2533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EF2707-FB9C-6774-BF72-3BC77F7053F0}"/>
              </a:ext>
            </a:extLst>
          </p:cNvPr>
          <p:cNvSpPr>
            <a:spLocks noGrp="1"/>
          </p:cNvSpPr>
          <p:nvPr/>
        </p:nvSpPr>
        <p:spPr>
          <a:xfrm>
            <a:off x="5286851" y="4914582"/>
            <a:ext cx="2762250" cy="609600"/>
          </a:xfrm>
          <a:prstGeom prst="roundRect">
            <a:avLst>
              <a:gd name="adj" fmla="val 12500"/>
            </a:avLst>
          </a:prstGeom>
          <a:solidFill>
            <a:srgbClr val="E5F5ED"/>
          </a:solidFill>
          <a:ln w="11906">
            <a:solidFill>
              <a:srgbClr val="21A365"/>
            </a:solidFill>
            <a:prstDash val="solid"/>
          </a:ln>
        </p:spPr>
        <p:txBody>
          <a:bodyPr wrap="square"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Forecast </a:t>
            </a:r>
            <a:r>
              <a:rPr sz="1275" dirty="0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Validation</a:t>
            </a:r>
          </a:p>
          <a:p>
            <a:pPr algn="ctr">
              <a:defRPr sz="1275" b="1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dirty="0">
                <a:solidFill>
                  <a:srgbClr val="146B45"/>
                </a:solidFill>
                <a:latin typeface="Bitstream Charter"/>
                <a:ea typeface="Bitstream Charter"/>
                <a:cs typeface="Bitstream Charter"/>
              </a:rPr>
              <a:t>MAE and RMSE</a:t>
            </a:r>
          </a:p>
        </p:txBody>
      </p:sp>
    </p:spTree>
    <p:extLst>
      <p:ext uri="{BB962C8B-B14F-4D97-AF65-F5344CB8AC3E}">
        <p14:creationId xmlns:p14="http://schemas.microsoft.com/office/powerpoint/2010/main" val="37937871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336</Words>
  <Application>Microsoft Office PowerPoint</Application>
  <DocSecurity>0</DocSecurity>
  <PresentationFormat>Widescreen</PresentationFormat>
  <Paragraphs>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Bitstream Charter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Azaria Syahla Fitan Adibah</cp:lastModifiedBy>
  <cp:revision>2</cp:revision>
  <dcterms:created xsi:type="dcterms:W3CDTF">2026-09-21T01:47:42Z</dcterms:created>
  <dcterms:modified xsi:type="dcterms:W3CDTF">2026-09-21T06:50:58Z</dcterms:modified>
</cp:coreProperties>
</file>